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3DF22E-5921-463F-9D4C-063A5F2E37E5}" v="11" dt="2026-03-10T23:21:13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ash Sahoo" userId="cbda5c0254b87e85" providerId="LiveId" clId="{9C838C22-C32E-4DCE-B262-08D7E02A02EB}"/>
    <pc:docChg chg="undo custSel modSld">
      <pc:chgData name="Subhash Sahoo" userId="cbda5c0254b87e85" providerId="LiveId" clId="{9C838C22-C32E-4DCE-B262-08D7E02A02EB}" dt="2026-03-10T23:23:55.212" v="162" actId="20577"/>
      <pc:docMkLst>
        <pc:docMk/>
      </pc:docMkLst>
      <pc:sldChg chg="addSp modSp mod">
        <pc:chgData name="Subhash Sahoo" userId="cbda5c0254b87e85" providerId="LiveId" clId="{9C838C22-C32E-4DCE-B262-08D7E02A02EB}" dt="2026-03-10T23:11:38.344" v="30" actId="14100"/>
        <pc:sldMkLst>
          <pc:docMk/>
          <pc:sldMk cId="0" sldId="256"/>
        </pc:sldMkLst>
        <pc:spChg chg="mod">
          <ac:chgData name="Subhash Sahoo" userId="cbda5c0254b87e85" providerId="LiveId" clId="{9C838C22-C32E-4DCE-B262-08D7E02A02EB}" dt="2026-03-10T23:09:57.135" v="15" actId="1076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Subhash Sahoo" userId="cbda5c0254b87e85" providerId="LiveId" clId="{9C838C22-C32E-4DCE-B262-08D7E02A02EB}" dt="2026-03-10T23:11:38.344" v="30" actId="14100"/>
          <ac:spMkLst>
            <pc:docMk/>
            <pc:sldMk cId="0" sldId="256"/>
            <ac:spMk id="8" creationId="{3C400E24-2614-42E1-D576-A60D23118D82}"/>
          </ac:spMkLst>
        </pc:spChg>
        <pc:spChg chg="mod">
          <ac:chgData name="Subhash Sahoo" userId="cbda5c0254b87e85" providerId="LiveId" clId="{9C838C22-C32E-4DCE-B262-08D7E02A02EB}" dt="2026-03-10T23:09:49.161" v="13" actId="1076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Subhash Sahoo" userId="cbda5c0254b87e85" providerId="LiveId" clId="{9C838C22-C32E-4DCE-B262-08D7E02A02EB}" dt="2026-03-10T23:12:20.656" v="34" actId="20577"/>
        <pc:sldMkLst>
          <pc:docMk/>
          <pc:sldMk cId="0" sldId="260"/>
        </pc:sldMkLst>
        <pc:spChg chg="mod">
          <ac:chgData name="Subhash Sahoo" userId="cbda5c0254b87e85" providerId="LiveId" clId="{9C838C22-C32E-4DCE-B262-08D7E02A02EB}" dt="2026-03-10T23:12:20.656" v="34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Subhash Sahoo" userId="cbda5c0254b87e85" providerId="LiveId" clId="{9C838C22-C32E-4DCE-B262-08D7E02A02EB}" dt="2026-03-10T23:13:23.859" v="35" actId="1076"/>
        <pc:sldMkLst>
          <pc:docMk/>
          <pc:sldMk cId="0" sldId="262"/>
        </pc:sldMkLst>
        <pc:graphicFrameChg chg="mod">
          <ac:chgData name="Subhash Sahoo" userId="cbda5c0254b87e85" providerId="LiveId" clId="{9C838C22-C32E-4DCE-B262-08D7E02A02EB}" dt="2026-03-10T23:13:23.859" v="35" actId="1076"/>
          <ac:graphicFrameMkLst>
            <pc:docMk/>
            <pc:sldMk cId="0" sldId="262"/>
            <ac:graphicFrameMk id="18" creationId="{00000000-0000-0000-0000-000000000000}"/>
          </ac:graphicFrameMkLst>
        </pc:graphicFrameChg>
      </pc:sldChg>
      <pc:sldChg chg="addSp delSp modSp mod">
        <pc:chgData name="Subhash Sahoo" userId="cbda5c0254b87e85" providerId="LiveId" clId="{9C838C22-C32E-4DCE-B262-08D7E02A02EB}" dt="2026-03-10T23:17:22.904" v="91" actId="20577"/>
        <pc:sldMkLst>
          <pc:docMk/>
          <pc:sldMk cId="0" sldId="266"/>
        </pc:sldMkLst>
        <pc:spChg chg="mod">
          <ac:chgData name="Subhash Sahoo" userId="cbda5c0254b87e85" providerId="LiveId" clId="{9C838C22-C32E-4DCE-B262-08D7E02A02EB}" dt="2026-03-10T23:14:37.762" v="59" actId="20577"/>
          <ac:spMkLst>
            <pc:docMk/>
            <pc:sldMk cId="0" sldId="266"/>
            <ac:spMk id="19" creationId="{00000000-0000-0000-0000-000000000000}"/>
          </ac:spMkLst>
        </pc:spChg>
        <pc:spChg chg="add del">
          <ac:chgData name="Subhash Sahoo" userId="cbda5c0254b87e85" providerId="LiveId" clId="{9C838C22-C32E-4DCE-B262-08D7E02A02EB}" dt="2026-03-10T23:14:21.858" v="37" actId="22"/>
          <ac:spMkLst>
            <pc:docMk/>
            <pc:sldMk cId="0" sldId="266"/>
            <ac:spMk id="21" creationId="{F460417C-9853-2507-FE7F-5C5F41EFCF3E}"/>
          </ac:spMkLst>
        </pc:spChg>
        <pc:graphicFrameChg chg="mod modGraphic">
          <ac:chgData name="Subhash Sahoo" userId="cbda5c0254b87e85" providerId="LiveId" clId="{9C838C22-C32E-4DCE-B262-08D7E02A02EB}" dt="2026-03-10T23:17:22.904" v="91" actId="20577"/>
          <ac:graphicFrameMkLst>
            <pc:docMk/>
            <pc:sldMk cId="0" sldId="266"/>
            <ac:graphicFrameMk id="18" creationId="{00000000-0000-0000-0000-000000000000}"/>
          </ac:graphicFrameMkLst>
        </pc:graphicFrameChg>
      </pc:sldChg>
      <pc:sldChg chg="modSp mod">
        <pc:chgData name="Subhash Sahoo" userId="cbda5c0254b87e85" providerId="LiveId" clId="{9C838C22-C32E-4DCE-B262-08D7E02A02EB}" dt="2026-03-10T23:21:47.048" v="135" actId="20577"/>
        <pc:sldMkLst>
          <pc:docMk/>
          <pc:sldMk cId="0" sldId="267"/>
        </pc:sldMkLst>
        <pc:spChg chg="mod">
          <ac:chgData name="Subhash Sahoo" userId="cbda5c0254b87e85" providerId="LiveId" clId="{9C838C22-C32E-4DCE-B262-08D7E02A02EB}" dt="2026-03-10T23:20:05.782" v="98" actId="14100"/>
          <ac:spMkLst>
            <pc:docMk/>
            <pc:sldMk cId="0" sldId="267"/>
            <ac:spMk id="15" creationId="{00000000-0000-0000-0000-000000000000}"/>
          </ac:spMkLst>
        </pc:spChg>
        <pc:spChg chg="mod">
          <ac:chgData name="Subhash Sahoo" userId="cbda5c0254b87e85" providerId="LiveId" clId="{9C838C22-C32E-4DCE-B262-08D7E02A02EB}" dt="2026-03-10T23:20:28.967" v="101" actId="1076"/>
          <ac:spMkLst>
            <pc:docMk/>
            <pc:sldMk cId="0" sldId="267"/>
            <ac:spMk id="17" creationId="{00000000-0000-0000-0000-000000000000}"/>
          </ac:spMkLst>
        </pc:spChg>
        <pc:graphicFrameChg chg="mod modGraphic">
          <ac:chgData name="Subhash Sahoo" userId="cbda5c0254b87e85" providerId="LiveId" clId="{9C838C22-C32E-4DCE-B262-08D7E02A02EB}" dt="2026-03-10T23:18:31.903" v="97" actId="122"/>
          <ac:graphicFrameMkLst>
            <pc:docMk/>
            <pc:sldMk cId="0" sldId="267"/>
            <ac:graphicFrameMk id="12" creationId="{00000000-0000-0000-0000-000000000000}"/>
          </ac:graphicFrameMkLst>
        </pc:graphicFrameChg>
        <pc:graphicFrameChg chg="mod modGraphic">
          <ac:chgData name="Subhash Sahoo" userId="cbda5c0254b87e85" providerId="LiveId" clId="{9C838C22-C32E-4DCE-B262-08D7E02A02EB}" dt="2026-03-10T23:21:47.048" v="135" actId="20577"/>
          <ac:graphicFrameMkLst>
            <pc:docMk/>
            <pc:sldMk cId="0" sldId="267"/>
            <ac:graphicFrameMk id="18" creationId="{00000000-0000-0000-0000-000000000000}"/>
          </ac:graphicFrameMkLst>
        </pc:graphicFrameChg>
      </pc:sldChg>
      <pc:sldChg chg="modSp mod">
        <pc:chgData name="Subhash Sahoo" userId="cbda5c0254b87e85" providerId="LiveId" clId="{9C838C22-C32E-4DCE-B262-08D7E02A02EB}" dt="2026-03-10T23:22:43.410" v="148" actId="20577"/>
        <pc:sldMkLst>
          <pc:docMk/>
          <pc:sldMk cId="0" sldId="270"/>
        </pc:sldMkLst>
        <pc:spChg chg="mod">
          <ac:chgData name="Subhash Sahoo" userId="cbda5c0254b87e85" providerId="LiveId" clId="{9C838C22-C32E-4DCE-B262-08D7E02A02EB}" dt="2026-03-10T23:22:43.410" v="148" actId="20577"/>
          <ac:spMkLst>
            <pc:docMk/>
            <pc:sldMk cId="0" sldId="270"/>
            <ac:spMk id="48" creationId="{00000000-0000-0000-0000-000000000000}"/>
          </ac:spMkLst>
        </pc:spChg>
      </pc:sldChg>
      <pc:sldChg chg="modSp mod">
        <pc:chgData name="Subhash Sahoo" userId="cbda5c0254b87e85" providerId="LiveId" clId="{9C838C22-C32E-4DCE-B262-08D7E02A02EB}" dt="2026-03-10T23:23:55.212" v="162" actId="20577"/>
        <pc:sldMkLst>
          <pc:docMk/>
          <pc:sldMk cId="0" sldId="271"/>
        </pc:sldMkLst>
        <pc:spChg chg="mod">
          <ac:chgData name="Subhash Sahoo" userId="cbda5c0254b87e85" providerId="LiveId" clId="{9C838C22-C32E-4DCE-B262-08D7E02A02EB}" dt="2026-03-10T23:23:55.212" v="162" actId="20577"/>
          <ac:spMkLst>
            <pc:docMk/>
            <pc:sldMk cId="0" sldId="271"/>
            <ac:spMk id="1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462272"/>
            <a:ext cx="12188952" cy="2395728"/>
          </a:xfrm>
          <a:prstGeom prst="rect">
            <a:avLst/>
          </a:prstGeom>
          <a:solidFill>
            <a:srgbClr val="12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Calibri"/>
              </a:rPr>
              <a:t>Mobile Phone Price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88BBFF"/>
                </a:solidFill>
                <a:latin typeface="Calibri"/>
              </a:rPr>
              <a:t>Feature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12" y="47727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899BB"/>
                </a:solidFill>
                <a:latin typeface="Calibri"/>
              </a:rPr>
              <a:t>Dt. 10/03/2026</a:t>
            </a:r>
            <a:endParaRPr sz="1200" dirty="0">
              <a:solidFill>
                <a:srgbClr val="8899BB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400E24-2614-42E1-D576-A60D23118D82}"/>
              </a:ext>
            </a:extLst>
          </p:cNvPr>
          <p:cNvSpPr txBox="1"/>
          <p:nvPr/>
        </p:nvSpPr>
        <p:spPr>
          <a:xfrm>
            <a:off x="608012" y="4865727"/>
            <a:ext cx="3047019" cy="102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500"/>
              </a:spcBef>
            </a:pPr>
            <a:r>
              <a:rPr lang="en-IN" sz="2000" dirty="0" err="1">
                <a:solidFill>
                  <a:srgbClr val="00B0F0"/>
                </a:solidFill>
              </a:rPr>
              <a:t>NextHikes</a:t>
            </a:r>
            <a:r>
              <a:rPr lang="en-IN" sz="2000" dirty="0">
                <a:solidFill>
                  <a:srgbClr val="00B0F0"/>
                </a:solidFill>
              </a:rPr>
              <a:t> IT Solutions</a:t>
            </a:r>
          </a:p>
          <a:p>
            <a:pPr>
              <a:spcBef>
                <a:spcPts val="2500"/>
              </a:spcBef>
            </a:pPr>
            <a:r>
              <a:rPr lang="en-IN" sz="2000" dirty="0">
                <a:solidFill>
                  <a:srgbClr val="00B0F0"/>
                </a:solidFill>
              </a:rPr>
              <a:t>Sarita Sahoo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End-to-End Feature Engineering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3716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37160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138074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Dataset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4592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Source, shape, columns, price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7744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3774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37744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238658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Data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65176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Distribution, Skewness, Kurtosis, Box Plots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8328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33832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38328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3924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Data 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Duplicates, Outlier Removal, Extraction Functions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8912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4389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38912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39826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Visual Representation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66344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Univariate · Bivariate · Multivariate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39496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539496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539496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40410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Feature 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66928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Engineered Features, Binning, Ratios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37160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63640" y="137160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79" y="137160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0" y="138074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Feature Transformation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164592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Scaling, Encoding, Log Transform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37744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23774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12279" y="237744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238658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Feature Selection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65176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Correlation Filter, RF Importance, Permutation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38328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3640" y="338328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12279" y="338328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0" y="33924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Model Building &amp; Evaluation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65760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LR · RF · GBM  |  MAE · RMSE · R²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389120"/>
            <a:ext cx="502920" cy="5943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43891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79" y="4389120"/>
            <a:ext cx="3246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58000" y="439826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Key Findings &amp; Recommendations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663440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Top Predictors, Market Insights,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Flipkart Smartphone Dataset — Processed_Flipdata.xlsx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651760" cy="10515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79" y="150876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~541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029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F"/>
                </a:solidFill>
                <a:latin typeface="Calibri"/>
              </a:rPr>
              <a:t>Total Smartphones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463040"/>
            <a:ext cx="2651760" cy="10515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0876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29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F"/>
                </a:solidFill>
                <a:latin typeface="Calibri"/>
              </a:rPr>
              <a:t>Original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463040"/>
            <a:ext cx="2651760" cy="10515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199" y="150876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Rs. 920 – 80,999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199" y="2029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F"/>
                </a:solidFill>
                <a:latin typeface="Calibri"/>
              </a:rPr>
              <a:t>Price Range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19" y="1463040"/>
            <a:ext cx="2651760" cy="105156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59" y="1508760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12–18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2029968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F"/>
                </a:solidFill>
                <a:latin typeface="Calibri"/>
              </a:rPr>
              <a:t>Final Features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4320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" y="2715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Raw Columns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20040" y="2926080"/>
          <a:ext cx="11521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Internal storage (GB)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Random Access Memory (GB)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Battery_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Battery capacity (mAh)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Mobile Height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Device height (mm)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Numeric (Target)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Selling price (Rs.)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Rear Camera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Rear camera spec, e.g. '50MP'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Front Camera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Front camera spec, e.g. '16MP'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Processor_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Processor model / chip name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Device model name (brand embedded)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AI Lens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AI camera flag (Yes/No)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Colour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Device color 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1: Data Exploration &amp;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Distribution Analysis · Skewness · Kurtosis · Box Plots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Numerical Feature Distribution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508760"/>
          <a:ext cx="11521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Skewness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Outliers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Market Implication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Highly Right-Skewed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High (+)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Premium flagships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Log-transform for linear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Discrete Tier Clusters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Moderate (+)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12–16 GB flagships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Bin into Budget / Mid / Premium tiers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Tier-Based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512 GB+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Each tier jump = visible price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Battery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Near Symmetric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Compact / Power-user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Weak standalone predictor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Mobile 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Near Normal / Tight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~Symmetric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Low predictive value — deprioritise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365760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3630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Key Exploration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840480"/>
            <a:ext cx="11521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Price is volume-driven at Rs. 5,000–20,000; premium flagships (Rs. 50,000+) form the right tail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RAM tiers (4 / 6 / 8 GB) align with market segments — each jump commands a price premium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Memory tier (64→128→256 GB) drives pricing expectations anchored by consumers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Battery (4,000–5,000 mAh) is now commoditised — not a standalone pricing lever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Mobile Height shows manufacturing convergence — negligible price signal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2: Data Cleaning &amp;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Duplicates · Outlier Removal · Feature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Cleaning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08760"/>
            <a:ext cx="55778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50" dirty="0">
                <a:solidFill>
                  <a:srgbClr val="1A1A1A"/>
                </a:solidFill>
                <a:latin typeface="Calibri"/>
              </a:rPr>
              <a:t>●  Duplicate rows removed (reset index after drop)</a:t>
            </a:r>
          </a:p>
          <a:p>
            <a:pPr>
              <a:spcBef>
                <a:spcPts val="0"/>
              </a:spcBef>
            </a:pPr>
            <a:r>
              <a:rPr sz="1150" dirty="0">
                <a:solidFill>
                  <a:srgbClr val="1A1A1A"/>
                </a:solidFill>
                <a:latin typeface="Calibri"/>
              </a:rPr>
              <a:t>●  1.5×IQR outlier removal on all 5 numerical columns via loop</a:t>
            </a:r>
          </a:p>
          <a:p>
            <a:pPr>
              <a:spcBef>
                <a:spcPts val="0"/>
              </a:spcBef>
            </a:pPr>
            <a:r>
              <a:rPr sz="1150" dirty="0">
                <a:solidFill>
                  <a:srgbClr val="1A1A1A"/>
                </a:solidFill>
                <a:latin typeface="Calibri"/>
              </a:rPr>
              <a:t>●  </a:t>
            </a:r>
            <a:r>
              <a:rPr lang="en-IN" sz="1150" dirty="0">
                <a:solidFill>
                  <a:srgbClr val="1A1A1A"/>
                </a:solidFill>
                <a:latin typeface="Calibri"/>
              </a:rPr>
              <a:t>1.5</a:t>
            </a:r>
            <a:r>
              <a:rPr sz="1150" dirty="0">
                <a:solidFill>
                  <a:srgbClr val="1A1A1A"/>
                </a:solidFill>
                <a:latin typeface="Calibri"/>
              </a:rPr>
              <a:t>×IQR extreme price flagging — </a:t>
            </a:r>
            <a:r>
              <a:rPr sz="1150" dirty="0" err="1">
                <a:solidFill>
                  <a:srgbClr val="1A1A1A"/>
                </a:solidFill>
                <a:latin typeface="Calibri"/>
              </a:rPr>
              <a:t>Price_outlier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column (all rows kept)</a:t>
            </a:r>
          </a:p>
          <a:p>
            <a:pPr>
              <a:spcBef>
                <a:spcPts val="0"/>
              </a:spcBef>
            </a:pPr>
            <a:r>
              <a:rPr sz="1150" dirty="0">
                <a:solidFill>
                  <a:srgbClr val="1A1A1A"/>
                </a:solidFill>
                <a:latin typeface="Calibri"/>
              </a:rPr>
              <a:t>●  Camera MP extracted: strip 'MP' suffix → float (0.0 on parse error)</a:t>
            </a:r>
          </a:p>
          <a:p>
            <a:pPr>
              <a:spcBef>
                <a:spcPts val="0"/>
              </a:spcBef>
            </a:pPr>
            <a:r>
              <a:rPr sz="1150" dirty="0">
                <a:solidFill>
                  <a:srgbClr val="1A1A1A"/>
                </a:solidFill>
                <a:latin typeface="Calibri"/>
              </a:rPr>
              <a:t>●  Brand extracted: </a:t>
            </a:r>
            <a:r>
              <a:rPr sz="1150" dirty="0" err="1">
                <a:solidFill>
                  <a:srgbClr val="1A1A1A"/>
                </a:solidFill>
                <a:latin typeface="Calibri"/>
              </a:rPr>
              <a:t>Model.split</a:t>
            </a:r>
            <a:r>
              <a:rPr sz="1150" dirty="0">
                <a:solidFill>
                  <a:srgbClr val="1A1A1A"/>
                </a:solidFill>
                <a:latin typeface="Calibri"/>
              </a:rPr>
              <a:t>()[0].upper() → new Brand column</a:t>
            </a:r>
          </a:p>
          <a:p>
            <a:pPr>
              <a:spcBef>
                <a:spcPts val="0"/>
              </a:spcBef>
            </a:pPr>
            <a:r>
              <a:rPr sz="1150" dirty="0">
                <a:solidFill>
                  <a:srgbClr val="1A1A1A"/>
                </a:solidFill>
                <a:latin typeface="Calibri"/>
              </a:rPr>
              <a:t>●  Processor mapped to 6 families: Qualcomm · MediaTek · </a:t>
            </a:r>
            <a:r>
              <a:rPr sz="1150" dirty="0" err="1">
                <a:solidFill>
                  <a:srgbClr val="1A1A1A"/>
                </a:solidFill>
                <a:latin typeface="Calibri"/>
              </a:rPr>
              <a:t>Unisoc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· Apple · </a:t>
            </a:r>
            <a:r>
              <a:rPr sz="1150" dirty="0" err="1">
                <a:solidFill>
                  <a:srgbClr val="1A1A1A"/>
                </a:solidFill>
                <a:latin typeface="Calibri"/>
              </a:rPr>
              <a:t>Samsung_Exynos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· </a:t>
            </a:r>
            <a:r>
              <a:rPr sz="1150" dirty="0" err="1">
                <a:solidFill>
                  <a:srgbClr val="1A1A1A"/>
                </a:solidFill>
                <a:latin typeface="Calibri"/>
              </a:rPr>
              <a:t>HiSilicon_Kirin</a:t>
            </a:r>
            <a:r>
              <a:rPr sz="1150" dirty="0">
                <a:solidFill>
                  <a:srgbClr val="1A1A1A"/>
                </a:solidFill>
                <a:latin typeface="Calibri"/>
              </a:rPr>
              <a:t> · Other</a:t>
            </a:r>
          </a:p>
          <a:p>
            <a:pPr>
              <a:spcBef>
                <a:spcPts val="0"/>
              </a:spcBef>
            </a:pPr>
            <a:r>
              <a:rPr sz="1150" dirty="0">
                <a:solidFill>
                  <a:srgbClr val="1A1A1A"/>
                </a:solidFill>
                <a:latin typeface="Calibri"/>
              </a:rPr>
              <a:t>●  No missing values detected in core numeric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Processor Brand Mapping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72200" y="1508760"/>
          <a:ext cx="56692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Processor Family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Keywords Matched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Qualcomm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QUALCOMM, SNAPDRAGON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MediaTek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MEDIATEK, DIMENSITY, HELIO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Unisoc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UNISOC, SPREADTRUM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Apple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APPLE, BIONIC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Samsung Exynos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EXYNOS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HiSilicon Kirin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KIRIN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All remaining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172200" y="3977639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39502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Outlier Removal — 1.5×IQR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160520"/>
            <a:ext cx="5669280" cy="1371600"/>
          </a:xfrm>
          <a:prstGeom prst="rect">
            <a:avLst/>
          </a:prstGeom>
          <a:solidFill>
            <a:srgbClr val="F0F4FF"/>
          </a:solidFill>
          <a:ln w="63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42062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5E"/>
                </a:solidFill>
                <a:latin typeface="Courier New"/>
              </a:rPr>
              <a:t>for col in ['Memory','RAM','Battery_','Mobile Height','Price']:
    Q1, Q3 = df[col].quantile([0.25, 0.75])
    IQR = Q3 - Q1
    df = df[(df[col] &gt;= Q1-1.5*IQR) &amp;
            (df[col] &lt;= Q3+1.5*IQR)]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3: Visual Representation — Univariate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3.1 Histograms with Skewness/Kurtosis · Box Plots · Categorical Bar Charts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Numerical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08760"/>
            <a:ext cx="5577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Price — Highly right-skewed; majority Rs. 5K–20K; premium flagships pull mean far above median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RAM — Discrete tier peaks (4/6/8 GB); right-tail outliers (12–16 GB) = flagship segment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Memory — 64 GB and 128 GB dominate; 512 GB+ are exclusively premium outliers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RearCamera_MP — Right-skewed; 64/108 MP outliers = premium photography flagships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FrontCamera_MP — Less skewed; selfie spec homogeneous across mid &amp; premium bands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Battery — Near-symmetric; 4,000–5,000 mAh is industry standard — commoditised spec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Mobile Height — Near-normal, tight distribution; manufacturing form-factor convergence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Categorical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50876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Processor Brand: Qualcomm dominates volume; Apple fewest devices but highest avg price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AI Lens: Majority of devices have AI Lens — now a standard mid-range feature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Brand (Top 5 + Others): Samsung &amp; Xiaomi lead device count across all price segments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31272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Visualization Techniques Used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72200" y="3337560"/>
          <a:ext cx="5669280" cy="208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Chart Type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Histogram (25 bins)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Distribution shape + skewness/kurtosis annotation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Mean / Median vlines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Skew direction — gap between mean &amp; median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Box 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IQR spread, whiskers, and outlier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Bar Plot (category)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Frequency of each processor brand / AI Lens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Brand Bar (Top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Device count with 'Others' grouping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3: Visual Representation — Bivariate &amp; Multivariate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3.2 Feature vs Price Analysis · 3.3 Correlation Heatmap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3.2 Bivariate — Feature vs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50876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RAM vs Price: Strong positive step-up (non-linear) — each tier jump = significant price lift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Memory vs Price: Monotonic increase — 128 GB ≈ 2× avg price of 64 GB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RearCamera_MP vs Price: Positive correlation — high-MP cameras bundled with pricier devices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Battery vs Price: Weak — large batteries exist across ALL price bands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Processor Brand vs Price: Apple &gt;&gt; Qualcomm &gt; MediaTek &gt; Unisoc in average price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AI Lens vs Price: AI-enabled devices have noticeably higher avg price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Brand (Top 5) vs Price: Distinct avg price differences between top brands vs Others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3.3 Multivariate — Correlation Heatmap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50876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RAM — Strongest positive correlation with Price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Memory — Second strongest positive correlation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RearCamera_MP — Moderate positive correlation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Battery &amp; Mobile Height — Weak correlation with Price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RAM &amp; Memory moderately correlated (tier alignment by manufacturers)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A1A1A"/>
                </a:solidFill>
                <a:latin typeface="Calibri"/>
              </a:rPr>
              <a:t>●  FrontCamera_MP — Moderate signal in Rs. 10K–20K band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89204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48646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Market Implications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497964"/>
              </p:ext>
            </p:extLst>
          </p:nvPr>
        </p:nvGraphicFramePr>
        <p:xfrm>
          <a:off x="411480" y="3910858"/>
          <a:ext cx="115214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Market Insight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Price skew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Use log(Price) for linear models; raw Price for tree-based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RAM outliers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Retain 12–16 GB devices — they anchor the premium segment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Camera 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Consider binning: &lt;20 MP budget, 20–64 MP mid, 64+ MP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Processor Brand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OHE columns will rank high in feature importance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4: Feature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Engineered Features · Ratio Features · Tier Binning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Engineered Features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508760"/>
          <a:ext cx="11521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Formula / Logic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Rationale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CameraRatio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RearCamera_MP ÷ FrontCamera_MP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Imaging emphasis — higher ratio = photography flagship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MemoryPerRAM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Memory ÷ RAM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Storage efficiency vs performance; budget phones = high ratio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TotalCamera_MP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RearCamera_MP + FrontCamera_MP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Combined camera capability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RAM_Tier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≤3 GB=Budget · 4–6=Mid-Range · 7+= High-End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Aligns with real market segments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Battery_Tier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&lt;4000=Low · 4000–5000=Medium · &gt;5000=High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Consumer categories: compact / standard / power-user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Brand_Grouped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Top 5 brands by count + 'Others'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Reduces cardinality; highlights key brand effect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RearCamera_MP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extract_mp(Rear Camera)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Numeric MP from raw string (e.g. '50MP' → 50.0)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FrontCamera_MP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extract_mp(Front Camera)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Numeric front camera MP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Processor_Brand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processor_brand(Processor_)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6-family mapping from free-text chip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49834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4956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Important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166360"/>
            <a:ext cx="11521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50">
                <a:solidFill>
                  <a:srgbClr val="555555"/>
                </a:solidFill>
                <a:latin typeface="Calibri"/>
              </a:rPr>
              <a:t>⚠  Binning risk: Within-bin variance is collapsed — validate bin boundaries against target distributions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555555"/>
                </a:solidFill>
                <a:latin typeface="Calibri"/>
              </a:rPr>
              <a:t>⚠  CameraRatio handles edge case: guard against FrontCamera_MP = 0 to avoid divide-by-zero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555555"/>
                </a:solidFill>
                <a:latin typeface="Calibri"/>
              </a:rPr>
              <a:t>⚠  Brand_Grouped preserves signal from top 5 brands while reducing noise from rare brands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5: Feature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Log Transform · Min-Max Scaling · One-Hot Encoding · Label Encoding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41732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Transformation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Applied To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Method / Tool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Log Transform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np.log1p(Price)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Reduces right skew; improves linear model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Min-Max Scaling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Memory, RAM, Battery, Height, Camera MPs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MinMaxScaler → [0,1]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Required for distance/gradient-based algorithms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One-Hot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Processor_Brand, AI Lens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pd.get_dummies(drop_first=False)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Converts nominal categories without ordinal assumption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Label Encoding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LabelEncoder (sklearn)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100+ brands encoded as integers for tree-based models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Drop Raw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Model, Colour, Processor_, Rear/Front Camera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df.drop()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High cardinality strings replaced by engineered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3749039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37216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Key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931920"/>
            <a:ext cx="11521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Tree-based models (RF, GBM) are scale-invariant — MinMaxScaling primarily benefits KNN / SVM / linear models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Price_log used as target only for Linear Regression; raw Price used for RF and GBM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OHE with drop_first=False retains all category columns to preserve full group signal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Label Encoding for Brand is appropriate for tree splits — ordinal assumption doesn't matter for decision trees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Dropping raw text columns eliminates noise and prevents model from treating identical strings as different tokens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6: Feature Selection &amp;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Correlation Filter · Random Forest Importance · Permutation Importance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Selection Methods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508760"/>
          <a:ext cx="11521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Correlation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|r| &gt; 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Flag redundant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Scaled duplicates removed; originals kept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Exclude Leakage Cols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Drop Price_outlier, Price_log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Prevents target-derived data leakage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RF Feature Importance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Score &lt; 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Drop low-importance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Removes noise; reduces overfitting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Permutation Importance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Consistent rank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Validate RF importance ranking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Model-agnostic cross-check on RF scores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352044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Expected Top Features by Importance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11521440" cy="311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Signal Strength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Strongest — linear &amp; non-linear price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Strong — storage tier drives premium pricing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Brand_Enc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Encoded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Strong — brand prestige embedded in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RearCamera_MP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Engineered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Moderate — high-MP bundled with premium phones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Processor_Brand_*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OHE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Moderate — Qualcomm/Apple OHE columns rank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AI Lens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OHE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Moderate — bundled with mid-to-high tier phones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FrontCamera_MP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Engineered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Low-Moderate — meaningful in Rs. 10K–20K band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Battery, Height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Weak — likely below 0.01 threshold, dropped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7: Model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Linear Regression · Random Forest · Gradient Boosting  |  80/20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Model Configuration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150876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Baseline; no hyperparameters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Fast, interpretable, establishes 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Misses non-linear relationships in price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n_estimators=200, random_state=42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Handles non-linearity, interaction effects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Less interpretable than linear models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n_estimators=200, random_state=42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Best on tabular data; corrects residuals sequentially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Slower to train; prone to overfit if not 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342900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Training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6118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Train/Test Split: 80% train (~432 rows) / 20% test (~108 rows) — random_state=42 for reproducibility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Target Variable: Raw Price for RF and GBM (tree-based, no normality assumption); Price_log for Linear Regression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Features: All columns in dfFinal after Step 6 selection (importance &gt; 0.01, no leakage columns)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Evaluation: MAE, RMSE, R² computed on the held-out 20% test set — no look-ahead 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342900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7" y="34015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Expected Results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636423"/>
              </p:ext>
            </p:extLst>
          </p:nvPr>
        </p:nvGraphicFramePr>
        <p:xfrm>
          <a:off x="7863840" y="3703320"/>
          <a:ext cx="4023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MAE (Rs.)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0.60–0.</a:t>
                      </a: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70</a:t>
                      </a:r>
                      <a:endParaRPr sz="11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,000–</a:t>
                      </a: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0.</a:t>
                      </a: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75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–0.</a:t>
                      </a: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85</a:t>
                      </a:r>
                      <a:endParaRPr sz="11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,000–</a:t>
                      </a: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,000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0.</a:t>
                      </a: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70</a:t>
                      </a:r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–0.</a:t>
                      </a:r>
                      <a:r>
                        <a:rPr lang="en-IN" sz="1100" dirty="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  <a:endParaRPr sz="110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>
                          <a:solidFill>
                            <a:srgbClr val="1A1A1A"/>
                          </a:solidFill>
                          <a:latin typeface="Calibri"/>
                        </a:rPr>
                        <a:t>1,500–3,000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863840" y="5074920"/>
            <a:ext cx="4023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18A3C"/>
                </a:solidFill>
                <a:latin typeface="Calibri"/>
              </a:rPr>
              <a:t>★ Best Model: </a:t>
            </a:r>
            <a:r>
              <a:rPr lang="en-IN" sz="1300" b="1" dirty="0">
                <a:solidFill>
                  <a:srgbClr val="218A3C"/>
                </a:solidFill>
                <a:latin typeface="Calibri"/>
              </a:rPr>
              <a:t>Random Forest</a:t>
            </a:r>
            <a:endParaRPr sz="1300" b="1" i="0" dirty="0">
              <a:solidFill>
                <a:srgbClr val="218A3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8: 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MAE · RMSE · R²  |  Actual vs Predicted · Residual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Evaluation Metrics Explained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6748"/>
              </p:ext>
            </p:extLst>
          </p:nvPr>
        </p:nvGraphicFramePr>
        <p:xfrm>
          <a:off x="320040" y="1508760"/>
          <a:ext cx="11521440" cy="1703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Interpretation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Expected Winner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Mean(|Actual - Predicted|)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Avg rupee error — directly actionable (e.g. off by Rs. 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1A1A1A"/>
                          </a:solidFill>
                          <a:latin typeface="+mn-lt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√Mean((Actual - Predicted)²)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Penalises large errors; sensitive to premium phone mispredictions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1A1A1A"/>
                          </a:solidFill>
                          <a:latin typeface="+mn-lt"/>
                        </a:rPr>
                        <a:t>Random Forest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1 - SS_res/SS_tot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% variance explained (1.0 = perfect; 0 = mean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1A1A1A"/>
                          </a:solidFill>
                          <a:latin typeface="+mn-lt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20040" y="333756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3310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Diagnostic Plots (Generated in Notebook)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520440"/>
            <a:ext cx="11411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MAE / RMSE / R² Bar Charts (3 side-by-side): Visual comparison across all three models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Actual vs Predicted Scatter (best model): Points tight around red dashed diagonal = good fit; fan-out at high prices = heteroscedasticity in premium segment</a:t>
            </a:r>
          </a:p>
          <a:p>
            <a:pPr>
              <a:spcBef>
                <a:spcPts val="0"/>
              </a:spcBef>
            </a:pPr>
            <a:r>
              <a:rPr sz="1200">
                <a:solidFill>
                  <a:srgbClr val="1A1A1A"/>
                </a:solidFill>
                <a:latin typeface="Calibri"/>
              </a:rPr>
              <a:t>●  Residual Histogram (best model): Near-zero mean = unbiased; heavy tails = occasional large errors at extreme price 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44068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577715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F6BB5"/>
                </a:solidFill>
                <a:latin typeface="Calibri"/>
              </a:rPr>
              <a:t>Model Performance Summary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017937"/>
              </p:ext>
            </p:extLst>
          </p:nvPr>
        </p:nvGraphicFramePr>
        <p:xfrm>
          <a:off x="374904" y="4908882"/>
          <a:ext cx="11521440" cy="1610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915"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15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~0.60–0.70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Baseline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915">
                <a:tc>
                  <a:txBody>
                    <a:bodyPr/>
                    <a:lstStyle/>
                    <a:p>
                      <a:pPr algn="l"/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Lowest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Lowest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~0.</a:t>
                      </a:r>
                      <a:r>
                        <a:rPr lang="en-IN" sz="1050" dirty="0">
                          <a:solidFill>
                            <a:srgbClr val="1A1A1A"/>
                          </a:solidFill>
                          <a:latin typeface="Calibri"/>
                        </a:rPr>
                        <a:t>75</a:t>
                      </a:r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–0.</a:t>
                      </a:r>
                      <a:r>
                        <a:rPr lang="en-IN" sz="1050" dirty="0">
                          <a:solidFill>
                            <a:srgbClr val="1A1A1A"/>
                          </a:solidFill>
                          <a:latin typeface="Calibri"/>
                        </a:rPr>
                        <a:t>85</a:t>
                      </a:r>
                      <a:endParaRPr sz="105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>
                          <a:solidFill>
                            <a:srgbClr val="1A1A1A"/>
                          </a:solidFill>
                          <a:latin typeface="+mn-lt"/>
                        </a:rPr>
                        <a:t>★ Best — production candidate</a:t>
                      </a:r>
                    </a:p>
                    <a:p>
                      <a:pPr algn="ctr"/>
                      <a:endParaRPr sz="105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915">
                <a:tc>
                  <a:txBody>
                    <a:bodyPr/>
                    <a:lstStyle/>
                    <a:p>
                      <a:pPr algn="l"/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solidFill>
                            <a:srgbClr val="1A1A1A"/>
                          </a:solidFill>
                          <a:latin typeface="Calibri"/>
                        </a:rPr>
                        <a:t>Medium</a:t>
                      </a:r>
                      <a:endParaRPr sz="105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~0.</a:t>
                      </a:r>
                      <a:r>
                        <a:rPr lang="en-IN" sz="1050" dirty="0">
                          <a:solidFill>
                            <a:srgbClr val="1A1A1A"/>
                          </a:solidFill>
                          <a:latin typeface="Calibri"/>
                        </a:rPr>
                        <a:t>70</a:t>
                      </a:r>
                      <a:r>
                        <a:rPr sz="1050" dirty="0">
                          <a:solidFill>
                            <a:srgbClr val="1A1A1A"/>
                          </a:solidFill>
                          <a:latin typeface="Calibri"/>
                        </a:rPr>
                        <a:t>–0.</a:t>
                      </a:r>
                      <a:r>
                        <a:rPr lang="en-IN" sz="1050" dirty="0">
                          <a:solidFill>
                            <a:srgbClr val="1A1A1A"/>
                          </a:solidFill>
                          <a:latin typeface="Calibri"/>
                        </a:rPr>
                        <a:t>80</a:t>
                      </a:r>
                      <a:endParaRPr sz="105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>
                          <a:solidFill>
                            <a:srgbClr val="1A1A1A"/>
                          </a:solidFill>
                          <a:latin typeface="+mn-lt"/>
                        </a:rPr>
                        <a:t>Strong — recommended backup</a:t>
                      </a:r>
                    </a:p>
                    <a:p>
                      <a:pPr algn="ctr"/>
                      <a:endParaRPr sz="1050" dirty="0">
                        <a:solidFill>
                          <a:srgbClr val="1A1A1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Top Predictors &amp; Market Insights from Feature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164592" cy="109728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RAM is #1 Predictor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80136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Strongest signal — prices jump at each tier: ≤3 GB (budget) → 4 GB (mid) → 6–8 GB (premium)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164592" cy="109728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4630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Memory is 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0136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128 GB vs 64 GB commands clear premium; consumers anchor price expectations to storage 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5176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" y="2651760"/>
            <a:ext cx="164592" cy="109728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974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Rear Camera MP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3580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64 MP / 108 MP cameras justify premium price tags; budget devices cluster at 8–13 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65176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651760"/>
            <a:ext cx="164592" cy="109728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6974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Processor Brand Drives Price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3580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Apple &gt;&gt; Qualcomm &gt; MediaTek &gt; Unisoc in average price across segments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8620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886200"/>
            <a:ext cx="164592" cy="109728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AI Lens = Mid-to-Premium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27024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AI camera is bundled with mid-range and above — a positive pricing signal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86200"/>
            <a:ext cx="5577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886200"/>
            <a:ext cx="164592" cy="109728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93192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Battery = Weak Predictor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70248"/>
            <a:ext cx="5257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5,000 mAh is now a baseline commodity spec — not a premium differentiator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5120640"/>
            <a:ext cx="164592" cy="109728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16636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Front Camera = Moderate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504688"/>
            <a:ext cx="11201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Selfie upgrades meaningful in the Rs. 10,000–20,000 price band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Recommendations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6 Actionable Recommendations for Model Improvement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640080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E1A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463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Use Gradient Boosting / 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874519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Ensemble models capture the non-linear, segment-based pricing that linear models miss. Deploy GBM as primary.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640080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E1A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1463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Prioritise RAM &amp; Memory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1874519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These two features alone explain the majority of price variance. Invest effort in clean, accurate spec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175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017520"/>
            <a:ext cx="640080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3474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E1A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0632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Build Segment-Specific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4747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Train separate models for Budget (&lt;Rs. 15K), Mid-Range and Premium (&gt;Rs. 40K) to reduce heteroscedasticity.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175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3017520"/>
            <a:ext cx="640080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3474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E1A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306323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Improve Camera Feature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34747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Sum all MP values from multi-lens strings (not just primary lens) for a richer TotalCamera_MP signal.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177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4617720"/>
            <a:ext cx="640080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5074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E1A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Use Target Encoding for Processor Brand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074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Brand-average-price target encoding outperforms plain OHE for linear models by capturing ordinal price relationship.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17720"/>
            <a:ext cx="55778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4617720"/>
            <a:ext cx="640080" cy="14630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5074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6E1A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46634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5E"/>
                </a:solidFill>
                <a:latin typeface="Calibri"/>
              </a:rPr>
              <a:t>Collect More Premium Phone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507492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Calibri"/>
              </a:rPr>
              <a:t>Model's largest errors occur at Rs. 50,000+ due to sparse training examples — augment premium range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Feature Engineering Pipeline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  <a:latin typeface="Calibri"/>
              </a:rPr>
              <a:t>End-to-End Workflow — From Raw Data to Trained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9282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  <a:latin typeface="Calibri"/>
              </a:rPr>
              <a:t>Mobile Price Prediction |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0" y="6592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71600"/>
            <a:ext cx="1325880" cy="5486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Raw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65960"/>
            <a:ext cx="1325880" cy="1417320"/>
          </a:xfrm>
          <a:prstGeom prst="rect">
            <a:avLst/>
          </a:prstGeom>
          <a:solidFill>
            <a:srgbClr val="EEF4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993392"/>
            <a:ext cx="1234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  <a:latin typeface="Calibri"/>
              </a:rPr>
              <a:t>Processed_Flipdata.xlsx
11 columns · ~541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9344" y="1581912"/>
            <a:ext cx="109728" cy="12801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09928" y="1371600"/>
            <a:ext cx="1325880" cy="54864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09928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Exploration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09928" y="196596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55648" y="1993392"/>
            <a:ext cx="1234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  <a:latin typeface="Calibri"/>
              </a:rPr>
              <a:t>Distributions
Skewness/Kurtosis
Box Plots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4951" y="1581912"/>
            <a:ext cx="109728" cy="12801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45535" y="1371600"/>
            <a:ext cx="1325880" cy="54864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45535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Cleaning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45535" y="1965960"/>
            <a:ext cx="1325880" cy="1417320"/>
          </a:xfrm>
          <a:prstGeom prst="rect">
            <a:avLst/>
          </a:prstGeom>
          <a:solidFill>
            <a:srgbClr val="EEF4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91255" y="1993392"/>
            <a:ext cx="1234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  <a:latin typeface="Calibri"/>
              </a:rPr>
              <a:t>Duplicates removed
1.5×IQR outlier removal
Extract MP, Brand, Processor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1581912"/>
            <a:ext cx="109728" cy="12801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81143" y="1371600"/>
            <a:ext cx="1325880" cy="54864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81143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Construction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81143" y="196596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26863" y="1993392"/>
            <a:ext cx="1234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  <a:latin typeface="Calibri"/>
              </a:rPr>
              <a:t>CameraRatio · MemoryPerRAM
TotalCamera_MP · Brand_Grouped
RAM &amp; Battery Tiers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16167" y="1581912"/>
            <a:ext cx="109728" cy="12801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16751" y="1371600"/>
            <a:ext cx="1325880" cy="54864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6751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Transformation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751" y="1965960"/>
            <a:ext cx="1325880" cy="1417320"/>
          </a:xfrm>
          <a:prstGeom prst="rect">
            <a:avLst/>
          </a:prstGeom>
          <a:solidFill>
            <a:srgbClr val="EEF4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62471" y="1993392"/>
            <a:ext cx="1234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  <a:latin typeface="Calibri"/>
              </a:rPr>
              <a:t>Log(Price) · MinMaxScale
OHE (Processor, AI Lens)
LabelEncode (Brand)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51775" y="1581912"/>
            <a:ext cx="109728" cy="12801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452360" y="1371600"/>
            <a:ext cx="1325880" cy="54864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52360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Selection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196596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0" y="1993392"/>
            <a:ext cx="1234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  <a:latin typeface="Calibri"/>
              </a:rPr>
              <a:t>Corr filter |r|&gt;0.90
RF Importance &gt;0.01
Permutation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87384" y="1581912"/>
            <a:ext cx="109728" cy="12801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887967" y="1371600"/>
            <a:ext cx="1325880" cy="54864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87967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87967" y="1965960"/>
            <a:ext cx="1325880" cy="1417320"/>
          </a:xfrm>
          <a:prstGeom prst="rect">
            <a:avLst/>
          </a:prstGeom>
          <a:solidFill>
            <a:srgbClr val="EEF4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33688" y="1993392"/>
            <a:ext cx="12344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375E"/>
                </a:solidFill>
                <a:latin typeface="Calibri"/>
              </a:rPr>
              <a:t>Linear Regression
Random Forest (n=200)
Gradient Boosting (n=200)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22991" y="1581912"/>
            <a:ext cx="109728" cy="128016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323576" y="1371600"/>
            <a:ext cx="1325880" cy="54864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323576" y="1371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23576" y="1965960"/>
            <a:ext cx="1325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69296" y="1993392"/>
            <a:ext cx="123443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1A375E"/>
                </a:solidFill>
                <a:latin typeface="Calibri"/>
              </a:rPr>
              <a:t>Best Model: </a:t>
            </a:r>
            <a:r>
              <a:rPr lang="en-IN" sz="900" dirty="0">
                <a:solidFill>
                  <a:srgbClr val="1A375E"/>
                </a:solidFill>
                <a:latin typeface="Calibri"/>
              </a:rPr>
              <a:t>RF</a:t>
            </a:r>
            <a:r>
              <a:rPr sz="900" b="0" i="0" dirty="0">
                <a:solidFill>
                  <a:srgbClr val="1A375E"/>
                </a:solidFill>
                <a:latin typeface="Calibri"/>
              </a:rPr>
              <a:t>
R² 0.</a:t>
            </a:r>
            <a:r>
              <a:rPr lang="en-IN" sz="900" b="0" i="0" dirty="0">
                <a:solidFill>
                  <a:srgbClr val="1A375E"/>
                </a:solidFill>
                <a:latin typeface="Calibri"/>
              </a:rPr>
              <a:t>75</a:t>
            </a:r>
            <a:r>
              <a:rPr sz="900" b="0" i="0" dirty="0">
                <a:solidFill>
                  <a:srgbClr val="1A375E"/>
                </a:solidFill>
                <a:latin typeface="Calibri"/>
              </a:rPr>
              <a:t>–0.</a:t>
            </a:r>
            <a:r>
              <a:rPr lang="en-IN" sz="900" b="0" i="0" dirty="0">
                <a:solidFill>
                  <a:srgbClr val="1A375E"/>
                </a:solidFill>
                <a:latin typeface="Calibri"/>
              </a:rPr>
              <a:t>85</a:t>
            </a:r>
            <a:r>
              <a:rPr sz="900" b="0" i="0" dirty="0">
                <a:solidFill>
                  <a:srgbClr val="1A375E"/>
                </a:solidFill>
                <a:latin typeface="Calibri"/>
              </a:rPr>
              <a:t>
MAE Rs. 1,500–3,000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657600"/>
            <a:ext cx="11521440" cy="54864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3794760"/>
            <a:ext cx="45720" cy="256032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9768" y="37673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6BB5"/>
                </a:solidFill>
                <a:latin typeface="Calibri"/>
              </a:rPr>
              <a:t>Final Dataset Shape After Pipeline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320040" y="3977639"/>
          <a:ext cx="115214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1A3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Raw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~541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Original columns from Flipkart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After Cleaning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~480–510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13–14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Post duplicate &amp; IQR removal + extractions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After Construction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~480–510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19–21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Added 7+ engineered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After Selection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~480–510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12–18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Dropped low-importance &amp; leakage cols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Train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~432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12–18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80% split for model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Test Set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~108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12–18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20% held-out for evaluation</a:t>
                      </a:r>
                    </a:p>
                  </a:txBody>
                  <a:tcPr>
                    <a:solidFill>
                      <a:srgbClr val="D6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999232"/>
            <a:ext cx="12188952" cy="3858768"/>
          </a:xfrm>
          <a:prstGeom prst="rect">
            <a:avLst/>
          </a:prstGeom>
          <a:solidFill>
            <a:srgbClr val="12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6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88BBFF"/>
                </a:solidFill>
                <a:latin typeface="Calibri"/>
              </a:rPr>
              <a:t>Mobile Phone Price Prediction — Feature Engineer</a:t>
            </a:r>
            <a:r>
              <a:rPr lang="en-IN" sz="1800" b="0" i="0" dirty="0" err="1">
                <a:solidFill>
                  <a:srgbClr val="88BBFF"/>
                </a:solidFill>
                <a:latin typeface="Calibri"/>
              </a:rPr>
              <a:t>ing</a:t>
            </a:r>
            <a:r>
              <a:rPr lang="en-IN" sz="1800" b="0" i="0" dirty="0">
                <a:solidFill>
                  <a:srgbClr val="88BBFF"/>
                </a:solidFill>
                <a:latin typeface="Calibri"/>
              </a:rPr>
              <a:t> Pipeline</a:t>
            </a:r>
            <a:endParaRPr sz="1800" b="0" i="0" dirty="0">
              <a:solidFill>
                <a:srgbClr val="88BBFF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71600" y="3337560"/>
            <a:ext cx="2103120" cy="118872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33832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~541 Smartphones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F"/>
                </a:solidFill>
                <a:latin typeface="Calibri"/>
              </a:rPr>
              <a:t>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3337560"/>
            <a:ext cx="2103120" cy="118872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33832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12–18 (after selection)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F"/>
                </a:solidFill>
                <a:latin typeface="Calibri"/>
              </a:rPr>
              <a:t>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337560"/>
            <a:ext cx="2103120" cy="118872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LR · RF · GBM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F"/>
                </a:solidFill>
                <a:latin typeface="Calibri"/>
              </a:rPr>
              <a:t>Models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41080" y="3337560"/>
            <a:ext cx="2103120" cy="1188720"/>
          </a:xfrm>
          <a:prstGeom prst="rect">
            <a:avLst/>
          </a:prstGeom>
          <a:solidFill>
            <a:srgbClr val="1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3383280"/>
            <a:ext cx="2103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0.</a:t>
            </a:r>
            <a:r>
              <a:rPr lang="en-IN" sz="1700" b="1" i="0" dirty="0">
                <a:solidFill>
                  <a:srgbClr val="FFFFFF"/>
                </a:solidFill>
                <a:latin typeface="Calibri"/>
              </a:rPr>
              <a:t>75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–0.</a:t>
            </a:r>
            <a:r>
              <a:rPr lang="en-IN" sz="1700" b="1" i="0" dirty="0">
                <a:solidFill>
                  <a:srgbClr val="FFFFFF"/>
                </a:solidFill>
                <a:latin typeface="Calibri"/>
              </a:rPr>
              <a:t>85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 (</a:t>
            </a:r>
            <a:r>
              <a:rPr lang="en-IN" sz="1700" b="1" dirty="0">
                <a:solidFill>
                  <a:srgbClr val="FFFFFF"/>
                </a:solidFill>
                <a:latin typeface="Calibri"/>
              </a:rPr>
              <a:t>RF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6E8FF"/>
                </a:solidFill>
                <a:latin typeface="Calibri"/>
              </a:rPr>
              <a:t>Best R²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2908</Words>
  <Application>Microsoft Office PowerPoint</Application>
  <PresentationFormat>Custom</PresentationFormat>
  <Paragraphs>536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Subhash Sahoo</cp:lastModifiedBy>
  <cp:revision>2</cp:revision>
  <dcterms:created xsi:type="dcterms:W3CDTF">2013-01-27T09:14:16Z</dcterms:created>
  <dcterms:modified xsi:type="dcterms:W3CDTF">2026-03-10T23:23:59Z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79a5b4-1824-49e3-a612-20b3893cf696_Enabled">
    <vt:lpwstr>true</vt:lpwstr>
  </property>
  <property fmtid="{D5CDD505-2E9C-101B-9397-08002B2CF9AE}" pid="3" name="MSIP_Label_b279a5b4-1824-49e3-a612-20b3893cf696_SetDate">
    <vt:lpwstr>2026-03-10T20:12:24Z</vt:lpwstr>
  </property>
  <property fmtid="{D5CDD505-2E9C-101B-9397-08002B2CF9AE}" pid="4" name="MSIP_Label_b279a5b4-1824-49e3-a612-20b3893cf696_Method">
    <vt:lpwstr>Standard</vt:lpwstr>
  </property>
  <property fmtid="{D5CDD505-2E9C-101B-9397-08002B2CF9AE}" pid="5" name="MSIP_Label_b279a5b4-1824-49e3-a612-20b3893cf696_Name">
    <vt:lpwstr>Yellow Data - APAC</vt:lpwstr>
  </property>
  <property fmtid="{D5CDD505-2E9C-101B-9397-08002B2CF9AE}" pid="6" name="MSIP_Label_b279a5b4-1824-49e3-a612-20b3893cf696_SiteId">
    <vt:lpwstr>fffcdc91-d561-4287-aebc-78d2466eec29</vt:lpwstr>
  </property>
  <property fmtid="{D5CDD505-2E9C-101B-9397-08002B2CF9AE}" pid="7" name="MSIP_Label_b279a5b4-1824-49e3-a612-20b3893cf696_ActionId">
    <vt:lpwstr>1762c1d7-8f23-4208-8d85-4517a2756bf9</vt:lpwstr>
  </property>
  <property fmtid="{D5CDD505-2E9C-101B-9397-08002B2CF9AE}" pid="8" name="MSIP_Label_b279a5b4-1824-49e3-a612-20b3893cf696_ContentBits">
    <vt:lpwstr>0</vt:lpwstr>
  </property>
  <property fmtid="{D5CDD505-2E9C-101B-9397-08002B2CF9AE}" pid="9" name="MSIP_Label_b279a5b4-1824-49e3-a612-20b3893cf696_Tag">
    <vt:lpwstr>10, 3, 0, 1</vt:lpwstr>
  </property>
</Properties>
</file>